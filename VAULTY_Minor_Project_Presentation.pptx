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6B6D4"/>
                </a:solidFill>
              </a:defRPr>
            </a:pPr>
            <a:r>
              <a:t>CHAUDHARY CHARAN SINGH UNIVERSITY, MEERUT • BCA-508</a:t>
            </a:r>
          </a:p>
          <a:p>
            <a:pPr>
              <a:defRPr sz="5400" b="1">
                <a:solidFill>
                  <a:srgbClr val="FFFFFF"/>
                </a:solidFill>
              </a:defRPr>
            </a:pPr>
            <a:r>
              <a:t>VAULTY</a:t>
            </a:r>
          </a:p>
          <a:p>
            <a:pPr>
              <a:spcAft>
                <a:spcPts val="800"/>
              </a:spcAft>
              <a:defRPr sz="2200">
                <a:solidFill>
                  <a:srgbClr val="8B5CF6"/>
                </a:solidFill>
              </a:defRPr>
            </a:pPr>
            <a:r>
              <a:t>Personal Subscription &amp; Burn-Rate Intelligence Web Application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A full-stack, client-first financial intelligence dashboard designed to eliminate subscription fatigue, terminate zombie expenses, and defend against predatory trial traps.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0332720" cy="201168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297680"/>
            <a:ext cx="9784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9CA3AF"/>
                </a:solidFill>
              </a:defRPr>
            </a:pPr>
            <a:r>
              <a:t>SUBMITTED BY:                                          UNDER THE GUIDANCE OF: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LAKSHYA SINGH                                      Prof. Nihal Kumar</a:t>
            </a:r>
          </a:p>
          <a:p>
            <a:pPr>
              <a:defRPr sz="1300">
                <a:solidFill>
                  <a:srgbClr val="06B6D4"/>
                </a:solidFill>
              </a:defRPr>
            </a:pPr>
            <a:r>
              <a:t>Roll No: 240919106122 | BCA 5th Sem (2024–2027)         Department of Information Technology</a:t>
            </a:r>
            <a:br/>
            <a:r>
              <a:t>Institute of Management Studies (IMS), Noida                 IMS Noida (CCSU Meerut)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VAULTY — BCA MINOR PROJECT (BCA-508)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Introduction &amp; Real-World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C4899"/>
                </a:solidFill>
              </a:defRPr>
            </a:pPr>
            <a:r>
              <a:t>The Subscription Crisis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C4899"/>
                </a:solidFill>
              </a:rPr>
              <a:t>• Shift to Recurring Models: </a:t>
            </a:r>
            <a:r>
              <a:rPr sz="1300">
                <a:solidFill>
                  <a:srgbClr val="FFFFFF"/>
                </a:solidFill>
              </a:rPr>
              <a:t>Digital lifestyle platforms (OTT, Gym, Cloud, AI tools) charge periodic fees instead of one-time purchases.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C4899"/>
                </a:solidFill>
              </a:rPr>
              <a:t>• Severe Spend Blindness: </a:t>
            </a:r>
            <a:r>
              <a:rPr sz="1300">
                <a:solidFill>
                  <a:srgbClr val="FFFFFF"/>
                </a:solidFill>
              </a:rPr>
              <a:t>Industry studies (Harvard Business Review) show 84% of consumers significantly underestimate monthly recurring debit outflow.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C4899"/>
                </a:solidFill>
              </a:rPr>
              <a:t>• Micro-Bleed Syndrome: </a:t>
            </a:r>
            <a:r>
              <a:rPr sz="1300">
                <a:solidFill>
                  <a:srgbClr val="FFFFFF"/>
                </a:solidFill>
              </a:rPr>
              <a:t>Individual subscriptions appear small (₹149, ₹299), but collectively drain ₹3,000–₹6,000 every month without user awareness.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</a:defRPr>
            </a:pPr>
            <a:r>
              <a:t>Identified Industry Flaws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59E0B"/>
                </a:solidFill>
              </a:rPr>
              <a:t>• Zombie Subscriptions: </a:t>
            </a:r>
            <a:r>
              <a:rPr sz="1300">
                <a:solidFill>
                  <a:srgbClr val="FFFFFF"/>
                </a:solidFill>
              </a:rPr>
              <a:t>Services unused for &gt;30 days (e.g. forgotten gym memberships, inactive game passes) continually deduct fees.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59E0B"/>
                </a:solidFill>
              </a:rPr>
              <a:t>• Trial Traps: </a:t>
            </a:r>
            <a:r>
              <a:rPr sz="1300">
                <a:solidFill>
                  <a:srgbClr val="FFFFFF"/>
                </a:solidFill>
              </a:rPr>
              <a:t>Free trials intentionally require credit/debit cards and quietly auto-convert into annual recurring commitments.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59E0B"/>
                </a:solidFill>
              </a:rPr>
              <a:t>• Roommate Split Friction: </a:t>
            </a:r>
            <a:r>
              <a:rPr sz="1300">
                <a:solidFill>
                  <a:srgbClr val="FFFFFF"/>
                </a:solidFill>
              </a:rPr>
              <a:t>Splitting family or duo accounts (Netflix, Spotify) requires manual monthly follow-ups and awkward reminder chats.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VAULTY — BCA MINOR PROJECT (BCA-508)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Project Objectives &amp; Core Design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1. Spend Intelligence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Unified Central Ledger: </a:t>
            </a:r>
            <a:r>
              <a:rPr sz="1300">
                <a:solidFill>
                  <a:srgbClr val="FFFFFF"/>
                </a:solidFill>
              </a:rPr>
              <a:t>Single-pane view of all recurring liabilities with 30-sec brand presets.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Normalized Burn Rate: </a:t>
            </a:r>
            <a:r>
              <a:rPr sz="1300">
                <a:solidFill>
                  <a:srgbClr val="FFFFFF"/>
                </a:solidFill>
              </a:rPr>
              <a:t>Mathematical conversion of weekly, quarterly, and annual billing into unified 30-day monthly burn rate.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Visual Cashflow Flow: </a:t>
            </a:r>
            <a:r>
              <a:rPr sz="1300">
                <a:solidFill>
                  <a:srgbClr val="FFFFFF"/>
                </a:solidFill>
              </a:rPr>
              <a:t>Recharts visual charts (burn trajectory area chart + category donut).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2. Proactive Defense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Bleed Radar: </a:t>
            </a:r>
            <a:r>
              <a:rPr sz="1300">
                <a:solidFill>
                  <a:srgbClr val="FFFFFF"/>
                </a:solidFill>
              </a:rPr>
              <a:t>Automated detection of idle subscriptions exceeding the 30-day inactivity threshold.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Trial Watchdog: </a:t>
            </a:r>
            <a:r>
              <a:rPr sz="1300">
                <a:solidFill>
                  <a:srgbClr val="FFFFFF"/>
                </a:solidFill>
              </a:rPr>
              <a:t>Urgent countdown warning (&lt;48 hrs) with direct 1-click cancellation deep-links.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Price Hike Auditor: </a:t>
            </a:r>
            <a:r>
              <a:rPr sz="1300">
                <a:solidFill>
                  <a:srgbClr val="FFFFFF"/>
                </a:solidFill>
              </a:rPr>
              <a:t>Audit price adjustments and currency fluctuations across billing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3. Modern Engineering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Zero Cloud Dependency: </a:t>
            </a:r>
            <a:r>
              <a:rPr sz="1300">
                <a:solidFill>
                  <a:srgbClr val="FFFFFF"/>
                </a:solidFill>
              </a:rPr>
              <a:t>Offline-first LocalStorage fallback ensures full functionality without backend setup.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Cloud Persistence: </a:t>
            </a:r>
            <a:r>
              <a:rPr sz="1300">
                <a:solidFill>
                  <a:srgbClr val="FFFFFF"/>
                </a:solidFill>
              </a:rPr>
              <a:t>Supabase PostgreSQL with strict Row Level Security (RLS) policies.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Verified Logic: </a:t>
            </a:r>
            <a:r>
              <a:rPr sz="1300">
                <a:solidFill>
                  <a:srgbClr val="FFFFFF"/>
                </a:solidFill>
              </a:rPr>
              <a:t>Pure functional mathematical calculation engine with 100% Vitest test coverage.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VAULTY — BCA MINOR PROJECT (BCA-508)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3-Tier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Tier 1: Presentation Layer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Next.js 14 App Router: </a:t>
            </a:r>
            <a:r>
              <a:rPr sz="1300">
                <a:solidFill>
                  <a:srgbClr val="FFFFFF"/>
                </a:solidFill>
              </a:rPr>
              <a:t>Server components combined with client-side interactive widgets.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Dark Glassmorphic UI: </a:t>
            </a:r>
            <a:r>
              <a:rPr sz="1300">
                <a:solidFill>
                  <a:srgbClr val="FFFFFF"/>
                </a:solidFill>
              </a:rPr>
              <a:t>Custom #090A0F theme, backdrop blur filters, and neon indicators.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Responsive Bento Grid: </a:t>
            </a:r>
            <a:r>
              <a:rPr sz="1300">
                <a:solidFill>
                  <a:srgbClr val="FFFFFF"/>
                </a:solidFill>
              </a:rPr>
              <a:t>Fluid adaptation across mobile (390px), tablet (768px), and desktop (1440px).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Data Visualizations: </a:t>
            </a:r>
            <a:r>
              <a:rPr sz="1300">
                <a:solidFill>
                  <a:srgbClr val="FFFFFF"/>
                </a:solidFill>
              </a:rPr>
              <a:t>Recharts SVG AreaChart, Donut Chart, and dynamic sparklines.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Tier 2: Business &amp; Math Logic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Pure Functional Engine: </a:t>
            </a:r>
            <a:r>
              <a:rPr sz="1300">
                <a:solidFill>
                  <a:srgbClr val="FFFFFF"/>
                </a:solidFill>
              </a:rPr>
              <a:t>lib/calc.ts decoupled from React render loops for deterministic output.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Schema Validation: </a:t>
            </a:r>
            <a:r>
              <a:rPr sz="1300">
                <a:solidFill>
                  <a:srgbClr val="FFFFFF"/>
                </a:solidFill>
              </a:rPr>
              <a:t>Zod schemas on form inputs ensuring type safety and boundary validity.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Command Palette: </a:t>
            </a:r>
            <a:r>
              <a:rPr sz="1300">
                <a:solidFill>
                  <a:srgbClr val="FFFFFF"/>
                </a:solidFill>
              </a:rPr>
              <a:t>cmdk integration enabling instantaneous keyboard navigation (Cmd+K).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Optimistic UI Updates: </a:t>
            </a:r>
            <a:r>
              <a:rPr sz="1300">
                <a:solidFill>
                  <a:srgbClr val="FFFFFF"/>
                </a:solidFill>
              </a:rPr>
              <a:t>Non-intrusive 5-second undo deletion toasts powered by Sonner.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Tier 3: Storage &amp; Persistence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Dual-Mode Repository: </a:t>
            </a:r>
            <a:r>
              <a:rPr sz="1300">
                <a:solidFill>
                  <a:srgbClr val="FFFFFF"/>
                </a:solidFill>
              </a:rPr>
              <a:t>Pluggable repository pattern supporting instant runtime fallback.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LocalStorage Adapter: </a:t>
            </a:r>
            <a:r>
              <a:rPr sz="1300">
                <a:solidFill>
                  <a:srgbClr val="FFFFFF"/>
                </a:solidFill>
              </a:rPr>
              <a:t>Full client-side persistence for privacy, demo mode, and offline use.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Supabase PostgreSQL: </a:t>
            </a:r>
            <a:r>
              <a:rPr sz="1300">
                <a:solidFill>
                  <a:srgbClr val="FFFFFF"/>
                </a:solidFill>
              </a:rPr>
              <a:t>Cloud database with automated triggers and real-time syncing.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Row Level Security: </a:t>
            </a:r>
            <a:r>
              <a:rPr sz="1300">
                <a:solidFill>
                  <a:srgbClr val="FFFFFF"/>
                </a:solidFill>
              </a:rPr>
              <a:t>Tenant isolation enforced at the database engine level (auth.uid()).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VAULTY — BCA MINOR PROJECT (BCA-508)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Calculation Engine (lib/calc.ts)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Core Computational Formulas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Formula 1: Normalization: </a:t>
            </a:r>
            <a:r>
              <a:rPr sz="1300">
                <a:solidFill>
                  <a:srgbClr val="FFFFFF"/>
                </a:solidFill>
              </a:rPr>
              <a:t>Converts any billing cycle to 30-day normalized cost: C_mo = Cost * (365 / (12 * D_cycle)). Weekly (*4.345), Quarterly (/3), Yearly (/12).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Formula 2: Monthly Bleed: </a:t>
            </a:r>
            <a:r>
              <a:rPr sz="1300">
                <a:solidFill>
                  <a:srgbClr val="FFFFFF"/>
                </a:solidFill>
              </a:rPr>
              <a:t>Calculates true total: Sigma(C_mo) for all subscriptions with status == 'active'. Paused &amp; cancelled excluded.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Formula 3: Zombie Threshold: </a:t>
            </a:r>
            <a:r>
              <a:rPr sz="1300">
                <a:solidFill>
                  <a:srgbClr val="FFFFFF"/>
                </a:solidFill>
              </a:rPr>
              <a:t>Flagged if subscription is active AND (CurrentDate - LastUsedDate) &gt;= 30 days.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Formula 4: Trial Urgency: </a:t>
            </a:r>
            <a:r>
              <a:rPr sz="1300">
                <a:solidFill>
                  <a:srgbClr val="FFFFFF"/>
                </a:solidFill>
              </a:rPr>
              <a:t>Urgent flag triggered if isTrial == true AND (RenewalDate - CurrentDate) &lt;= 48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Automated Vitest Verification (7/7)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Test 1: Cycle Normalization: </a:t>
            </a:r>
            <a:r>
              <a:rPr sz="1300">
                <a:solidFill>
                  <a:srgbClr val="FFFFFF"/>
                </a:solidFill>
              </a:rPr>
              <a:t>Verified exact mathematical outputs across weekly, monthly, quarterly, and annual intervals.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Test 2: Bleed Exclusions: </a:t>
            </a:r>
            <a:r>
              <a:rPr sz="1300">
                <a:solidFill>
                  <a:srgbClr val="FFFFFF"/>
                </a:solidFill>
              </a:rPr>
              <a:t>Confirmed paused and cancelled records contribute exactly 0 to the active total.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Test 3: 30-Day Boundary: </a:t>
            </a:r>
            <a:r>
              <a:rPr sz="1300">
                <a:solidFill>
                  <a:srgbClr val="FFFFFF"/>
                </a:solidFill>
              </a:rPr>
              <a:t>Tested 29-day (active) vs 30-day (zombie) exact boundary threshold.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Test 4: Leap Year &amp; Roll-Forward: </a:t>
            </a:r>
            <a:r>
              <a:rPr sz="1300">
                <a:solidFill>
                  <a:srgbClr val="FFFFFF"/>
                </a:solidFill>
              </a:rPr>
              <a:t>Validated date-fns advancement past month-ends into future years.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Test 5: Target Seed Baseline: </a:t>
            </a:r>
            <a:r>
              <a:rPr sz="1300">
                <a:solidFill>
                  <a:srgbClr val="FFFFFF"/>
                </a:solidFill>
              </a:rPr>
              <a:t>Calibrated baseline data reliably yields exactly ₹3,849/month.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VAULTY — BCA MINOR PROJECT (BCA-508)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Database Architecture &amp; Row Level Security (RLS)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Relational Schema Design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subscriptions: </a:t>
            </a:r>
            <a:r>
              <a:rPr sz="1300">
                <a:solidFill>
                  <a:srgbClr val="FFFFFF"/>
                </a:solidFill>
              </a:rPr>
              <a:t>id, user_id, service_name, cost, currency, billing_cycle, next_renewal, last_used_date, is_trial, cancel_url, status.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profiles: </a:t>
            </a:r>
            <a:r>
              <a:rPr sz="1300">
                <a:solidFill>
                  <a:srgbClr val="FFFFFF"/>
                </a:solidFill>
              </a:rPr>
              <a:t>id, email, full_name, monthly_budget, currency_preference, created_at.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categories: </a:t>
            </a:r>
            <a:r>
              <a:rPr sz="1300">
                <a:solidFill>
                  <a:srgbClr val="FFFFFF"/>
                </a:solidFill>
              </a:rPr>
              <a:t>Pre-seeded taxonomies: Streaming, Gym, Cloud, Gaming, AI Tools, Productivity.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split_shares: </a:t>
            </a:r>
            <a:r>
              <a:rPr sz="1300">
                <a:solidFill>
                  <a:srgbClr val="FFFFFF"/>
                </a:solidFill>
              </a:rPr>
              <a:t>Foreign key to subscription, split member name, contact, percentage share, payment_status.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price_history: </a:t>
            </a:r>
            <a:r>
              <a:rPr sz="1300">
                <a:solidFill>
                  <a:srgbClr val="FFFFFF"/>
                </a:solidFill>
              </a:rPr>
              <a:t>Historical audit tracking price change deltas across successive billing periods.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Database Security Architecture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C4899"/>
                </a:solidFill>
              </a:rPr>
              <a:t>• Zero Trust Database: </a:t>
            </a:r>
            <a:r>
              <a:rPr sz="1300">
                <a:solidFill>
                  <a:srgbClr val="FFFFFF"/>
                </a:solidFill>
              </a:rPr>
              <a:t>All tables enforce: ALTER TABLE ... ENABLE ROW LEVEL SECURITY;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C4899"/>
                </a:solidFill>
              </a:rPr>
              <a:t>• Tenant Isolation Policy: </a:t>
            </a:r>
            <a:r>
              <a:rPr sz="1300">
                <a:solidFill>
                  <a:srgbClr val="FFFFFF"/>
                </a:solidFill>
              </a:rPr>
              <a:t>CREATE POLICY "Users access own data" ON subscriptions FOR ALL USING (auth.uid() = user_id);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C4899"/>
                </a:solidFill>
              </a:rPr>
              <a:t>• Automated Triggers: </a:t>
            </a:r>
            <a:r>
              <a:rPr sz="1300">
                <a:solidFill>
                  <a:srgbClr val="FFFFFF"/>
                </a:solidFill>
              </a:rPr>
              <a:t>PostgreSQL triggers recalculate updated_at timestamps on every mutation.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C4899"/>
                </a:solidFill>
              </a:rPr>
              <a:t>• ACID Compliance: </a:t>
            </a:r>
            <a:r>
              <a:rPr sz="1300">
                <a:solidFill>
                  <a:srgbClr val="FFFFFF"/>
                </a:solidFill>
              </a:rPr>
              <a:t>PostgreSQL ensures transactional consistency during split additions and edits.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VAULTY — BCA MINOR PROJECT (BCA-508)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Feature Modules &amp; Visual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1. Bento Dashboard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Monthly Bleed: </a:t>
            </a:r>
            <a:r>
              <a:rPr sz="1300">
                <a:solidFill>
                  <a:srgbClr val="FFFFFF"/>
                </a:solidFill>
              </a:rPr>
              <a:t>Hero card showing ₹3,849/mo with sparkline.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Zombie Card: </a:t>
            </a:r>
            <a:r>
              <a:rPr sz="1300">
                <a:solidFill>
                  <a:srgbClr val="FFFFFF"/>
                </a:solidFill>
              </a:rPr>
              <a:t>3 idle subs saving ₹899/mo.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Trial Trap: </a:t>
            </a:r>
            <a:r>
              <a:rPr sz="1300">
                <a:solidFill>
                  <a:srgbClr val="FFFFFF"/>
                </a:solidFill>
              </a:rPr>
              <a:t>Prime ending in 48 hrs alert.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Trajectory Area: </a:t>
            </a:r>
            <a:r>
              <a:rPr sz="1300">
                <a:solidFill>
                  <a:srgbClr val="FFFFFF"/>
                </a:solidFill>
              </a:rPr>
              <a:t>Jan-Dec spend flow chart.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Donut Chart: </a:t>
            </a:r>
            <a:r>
              <a:rPr sz="1300">
                <a:solidFill>
                  <a:srgbClr val="FFFFFF"/>
                </a:solidFill>
              </a:rPr>
              <a:t>Category spend share.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2. Sub Vault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Brand Presets: </a:t>
            </a:r>
            <a:r>
              <a:rPr sz="1300">
                <a:solidFill>
                  <a:srgbClr val="FFFFFF"/>
                </a:solidFill>
              </a:rPr>
              <a:t>1-click entry for Netflix, Spotify, ChatGPT...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Filter Pills: </a:t>
            </a:r>
            <a:r>
              <a:rPr sz="1300">
                <a:solidFill>
                  <a:srgbClr val="FFFFFF"/>
                </a:solidFill>
              </a:rPr>
              <a:t>Instant multi-filter (Streaming, AI, Trials).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Status Toggle: </a:t>
            </a:r>
            <a:r>
              <a:rPr sz="1300">
                <a:solidFill>
                  <a:srgbClr val="FFFFFF"/>
                </a:solidFill>
              </a:rPr>
              <a:t>Active vs Paused switch.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CSV Export: </a:t>
            </a:r>
            <a:r>
              <a:rPr sz="1300">
                <a:solidFill>
                  <a:srgbClr val="FFFFFF"/>
                </a:solidFill>
              </a:rPr>
              <a:t>Instant download of complete expense ledger.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3. Bleed Radar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C4899"/>
                </a:solidFill>
              </a:rPr>
              <a:t>• Zombie Hunter: </a:t>
            </a:r>
            <a:r>
              <a:rPr sz="1300">
                <a:solidFill>
                  <a:srgbClr val="FFFFFF"/>
                </a:solidFill>
              </a:rPr>
              <a:t>Review idle subs &amp; calculate savings.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C4899"/>
                </a:solidFill>
              </a:rPr>
              <a:t>• Watchdog: </a:t>
            </a:r>
            <a:r>
              <a:rPr sz="1300">
                <a:solidFill>
                  <a:srgbClr val="FFFFFF"/>
                </a:solidFill>
              </a:rPr>
              <a:t>Audit price hikes (+₹20 Spotify).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C4899"/>
                </a:solidFill>
              </a:rPr>
              <a:t>• Savings Simulator: </a:t>
            </a:r>
            <a:r>
              <a:rPr sz="1300">
                <a:solidFill>
                  <a:srgbClr val="FFFFFF"/>
                </a:solidFill>
              </a:rPr>
              <a:t>Projected 1-yr and 3-yr bank balance gains.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C4899"/>
                </a:solidFill>
              </a:rPr>
              <a:t>• Alert Center: </a:t>
            </a:r>
            <a:r>
              <a:rPr sz="1300">
                <a:solidFill>
                  <a:srgbClr val="FFFFFF"/>
                </a:solidFill>
              </a:rPr>
              <a:t>Real-time actionable debit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4. Smart Split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Shared Ledger: </a:t>
            </a:r>
            <a:r>
              <a:rPr sz="1300">
                <a:solidFill>
                  <a:srgbClr val="FFFFFF"/>
                </a:solidFill>
              </a:rPr>
              <a:t>Split Netflix 4K with roommates.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Net Bleed: </a:t>
            </a:r>
            <a:r>
              <a:rPr sz="1300">
                <a:solidFill>
                  <a:srgbClr val="FFFFFF"/>
                </a:solidFill>
              </a:rPr>
              <a:t>Calculate your true cost after reimbursement.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WhatsApp Ping: </a:t>
            </a:r>
            <a:r>
              <a:rPr sz="1300">
                <a:solidFill>
                  <a:srgbClr val="FFFFFF"/>
                </a:solidFill>
              </a:rPr>
              <a:t>Pre-formatted reminder text generator.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UPI Link: </a:t>
            </a:r>
            <a:r>
              <a:rPr sz="1300">
                <a:solidFill>
                  <a:srgbClr val="FFFFFF"/>
                </a:solidFill>
              </a:rPr>
              <a:t>Generate instant UPI deep-links.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VAULTY — BCA MINOR PROJECT (BCA-508)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Calibrated Experimental Baseline (Student Persona: Arjun)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Active Subscriptions (₹3,849/mo)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59E0B"/>
                </a:solidFill>
              </a:rPr>
              <a:t>• Netflix 4K (Streaming): </a:t>
            </a:r>
            <a:r>
              <a:rPr sz="1300">
                <a:solidFill>
                  <a:srgbClr val="FFFFFF"/>
                </a:solidFill>
              </a:rPr>
              <a:t>₹649.00 / month — Renews in 3 days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59E0B"/>
                </a:solidFill>
              </a:rPr>
              <a:t>• Cult.fit Gym (Gym/Health): </a:t>
            </a:r>
            <a:r>
              <a:rPr sz="1300">
                <a:solidFill>
                  <a:srgbClr val="FFFFFF"/>
                </a:solidFill>
              </a:rPr>
              <a:t>₹899.00 / month — Unused for 38 days (ZOMBIE)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59E0B"/>
                </a:solidFill>
              </a:rPr>
              <a:t>• Claude Pro (AI Tools): </a:t>
            </a:r>
            <a:r>
              <a:rPr sz="1300">
                <a:solidFill>
                  <a:srgbClr val="FFFFFF"/>
                </a:solidFill>
              </a:rPr>
              <a:t>₹1,700.00 / month ($20 USD normalized) — Active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59E0B"/>
                </a:solidFill>
              </a:rPr>
              <a:t>• Spotify Duo (Streaming): </a:t>
            </a:r>
            <a:r>
              <a:rPr sz="1300">
                <a:solidFill>
                  <a:srgbClr val="FFFFFF"/>
                </a:solidFill>
              </a:rPr>
              <a:t>₹149.00 / month — Renews in 7 days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59E0B"/>
                </a:solidFill>
              </a:rPr>
              <a:t>• Google One 100GB (Cloud): </a:t>
            </a:r>
            <a:r>
              <a:rPr sz="1300">
                <a:solidFill>
                  <a:srgbClr val="FFFFFF"/>
                </a:solidFill>
              </a:rPr>
              <a:t>₹130.00 / month — Continuous backup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59E0B"/>
                </a:solidFill>
              </a:rPr>
              <a:t>• Xbox Game Pass (Gaming): </a:t>
            </a:r>
            <a:r>
              <a:rPr sz="1300">
                <a:solidFill>
                  <a:srgbClr val="FFFFFF"/>
                </a:solidFill>
              </a:rPr>
              <a:t>₹322.00 / mo (₹967/quarter) — Unused 42 days (ZOMBIE)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Detected Actions &amp; Recoveries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3 Zombie Subscriptions: </a:t>
            </a:r>
            <a:r>
              <a:rPr sz="1300">
                <a:solidFill>
                  <a:srgbClr val="FFFFFF"/>
                </a:solidFill>
              </a:rPr>
              <a:t>Cult.fit (₹899) + Xbox (₹322) + iCloud (₹75) = ₹899/mo direct savings recovered.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Annualized Cash Retained: </a:t>
            </a:r>
            <a:r>
              <a:rPr sz="1300">
                <a:solidFill>
                  <a:srgbClr val="FFFFFF"/>
                </a:solidFill>
              </a:rPr>
              <a:t>Cancelling 3 identified zombies saves ₹10,788 per calendar year.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Predatory Trial Trap: </a:t>
            </a:r>
            <a:r>
              <a:rPr sz="1300">
                <a:solidFill>
                  <a:srgbClr val="FFFFFF"/>
                </a:solidFill>
              </a:rPr>
              <a:t>Amazon Prime (₹299/mo) auto-renews in 48 hours. Direct cancel deep-link surfaced.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Roommate Split Recovery: </a:t>
            </a:r>
            <a:r>
              <a:rPr sz="1300">
                <a:solidFill>
                  <a:srgbClr val="FFFFFF"/>
                </a:solidFill>
              </a:rPr>
              <a:t>Splitting Netflix 4K 4-ways recovers ₹486.75/month back to user's UPI.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VAULTY — BCA MINOR PROJECT (BCA-508)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Software &amp; Development Tooling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Frontend Stack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Next.js 14 (App Router): </a:t>
            </a:r>
            <a:r>
              <a:rPr sz="1300">
                <a:solidFill>
                  <a:srgbClr val="FFFFFF"/>
                </a:solidFill>
              </a:rPr>
              <a:t>React Server Components + Client boundaries.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React 18 Concurrent: </a:t>
            </a:r>
            <a:r>
              <a:rPr sz="1300">
                <a:solidFill>
                  <a:srgbClr val="FFFFFF"/>
                </a:solidFill>
              </a:rPr>
              <a:t>Optimistic rendering and smooth UI transitions.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Tailwind CSS 3.4: </a:t>
            </a:r>
            <a:r>
              <a:rPr sz="1300">
                <a:solidFill>
                  <a:srgbClr val="FFFFFF"/>
                </a:solidFill>
              </a:rPr>
              <a:t>Utility tokens and dark glassmorphic styling.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Recharts Library: </a:t>
            </a:r>
            <a:r>
              <a:rPr sz="1300">
                <a:solidFill>
                  <a:srgbClr val="FFFFFF"/>
                </a:solidFill>
              </a:rPr>
              <a:t>Declarative SVG area and donut visualizations.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Lucide React: </a:t>
            </a:r>
            <a:r>
              <a:rPr sz="1300">
                <a:solidFill>
                  <a:srgbClr val="FFFFFF"/>
                </a:solidFill>
              </a:rPr>
              <a:t>Lightweight, scalable vector icons.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Backend &amp; Cloud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TypeScript 5 (Strict): </a:t>
            </a:r>
            <a:r>
              <a:rPr sz="1300">
                <a:solidFill>
                  <a:srgbClr val="FFFFFF"/>
                </a:solidFill>
              </a:rPr>
              <a:t>100% type safety from schemas to UI props.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Supabase Cloud: </a:t>
            </a:r>
            <a:r>
              <a:rPr sz="1300">
                <a:solidFill>
                  <a:srgbClr val="FFFFFF"/>
                </a:solidFill>
              </a:rPr>
              <a:t>Managed PostgreSQL database instance with RLS.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Vercel Edge Platform: </a:t>
            </a:r>
            <a:r>
              <a:rPr sz="1300">
                <a:solidFill>
                  <a:srgbClr val="FFFFFF"/>
                </a:solidFill>
              </a:rPr>
              <a:t>Automated CI/CD with global edge delivery.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date-fns Engine: </a:t>
            </a:r>
            <a:r>
              <a:rPr sz="1300">
                <a:solidFill>
                  <a:srgbClr val="FFFFFF"/>
                </a:solidFill>
              </a:rPr>
              <a:t>Immutable date calculation and roll-forward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Testing &amp; Quality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Vitest Test Runner: </a:t>
            </a:r>
            <a:r>
              <a:rPr sz="1300">
                <a:solidFill>
                  <a:srgbClr val="FFFFFF"/>
                </a:solidFill>
              </a:rPr>
              <a:t>Sub-millisecond mathematical theorem test execution.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Zod Schemas: </a:t>
            </a:r>
            <a:r>
              <a:rPr sz="1300">
                <a:solidFill>
                  <a:srgbClr val="FFFFFF"/>
                </a:solidFill>
              </a:rPr>
              <a:t>Runtime validation protecting against invalid inputs.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ESLint &amp; Prettier: </a:t>
            </a:r>
            <a:r>
              <a:rPr sz="1300">
                <a:solidFill>
                  <a:srgbClr val="FFFFFF"/>
                </a:solidFill>
              </a:rPr>
              <a:t>Enforcing enterprise TypeScript standards.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OpenXML Engine: </a:t>
            </a:r>
            <a:r>
              <a:rPr sz="1300">
                <a:solidFill>
                  <a:srgbClr val="FFFFFF"/>
                </a:solidFill>
              </a:rPr>
              <a:t>Native generation of 33-page college project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VAULTY — BCA MINOR PROJECT (BCA-508)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Real-World Advantages &amp; Social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Key Differentiators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Privacy-Preserving Architecture: </a:t>
            </a:r>
            <a:r>
              <a:rPr sz="1300">
                <a:solidFill>
                  <a:srgbClr val="FFFFFF"/>
                </a:solidFill>
              </a:rPr>
              <a:t>Unlike banking aggregators, Vaulty does not require bank credentials or sensitive OTP access.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Instant 30-Second Entry: </a:t>
            </a:r>
            <a:r>
              <a:rPr sz="1300">
                <a:solidFill>
                  <a:srgbClr val="FFFFFF"/>
                </a:solidFill>
              </a:rPr>
              <a:t>1-click brand preset chips eliminate tedious manual form filling.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Active Anti-Trap Radar: </a:t>
            </a:r>
            <a:r>
              <a:rPr sz="1300">
                <a:solidFill>
                  <a:srgbClr val="FFFFFF"/>
                </a:solidFill>
              </a:rPr>
              <a:t>Proactively defends user funds before auto-debit triggers, rather than simply recording past debits.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Impact on College Students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Monthly Cash Retention: </a:t>
            </a:r>
            <a:r>
              <a:rPr sz="1300">
                <a:solidFill>
                  <a:srgbClr val="FFFFFF"/>
                </a:solidFill>
              </a:rPr>
              <a:t>Saves average student ₹1,000–₹1,500 every month on unwanted auto-charges.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Zero Awkward Reminder Chats: </a:t>
            </a:r>
            <a:r>
              <a:rPr sz="1300">
                <a:solidFill>
                  <a:srgbClr val="FFFFFF"/>
                </a:solidFill>
              </a:rPr>
              <a:t>Pre-formatted WhatsApp UPI split messages eliminate social payment friction.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Mindful Digital Spending: </a:t>
            </a:r>
            <a:r>
              <a:rPr sz="1300">
                <a:solidFill>
                  <a:srgbClr val="FFFFFF"/>
                </a:solidFill>
              </a:rPr>
              <a:t>Category donuts visualize where money actually flows vs perceived spending.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VAULTY — BCA MINOR PROJECT (BCA-508)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Enhancements &amp;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Phase 2 Enhancements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59E0B"/>
                </a:solidFill>
              </a:rPr>
              <a:t>• RBI Account Aggregator (AA): </a:t>
            </a:r>
            <a:r>
              <a:rPr sz="1300">
                <a:solidFill>
                  <a:srgbClr val="FFFFFF"/>
                </a:solidFill>
              </a:rPr>
              <a:t>Optional read-only financial consent consent layer to auto-detect e-mandates.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59E0B"/>
                </a:solidFill>
              </a:rPr>
              <a:t>• Web Push Notifications: </a:t>
            </a:r>
            <a:r>
              <a:rPr sz="1300">
                <a:solidFill>
                  <a:srgbClr val="FFFFFF"/>
                </a:solidFill>
              </a:rPr>
              <a:t>Browser and mobile service worker push notifications 48 hrs before renewals.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59E0B"/>
                </a:solidFill>
              </a:rPr>
              <a:t>• WhatsApp Bot Integration: </a:t>
            </a:r>
            <a:r>
              <a:rPr sz="1300">
                <a:solidFill>
                  <a:srgbClr val="FFFFFF"/>
                </a:solidFill>
              </a:rPr>
              <a:t>Two-way WhatsApp chatbot for logging subscriptions by sending screenshot receipts.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Phase 3 Enterprise Vision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Corporate SaaS Tracker: </a:t>
            </a:r>
            <a:r>
              <a:rPr sz="1300">
                <a:solidFill>
                  <a:srgbClr val="FFFFFF"/>
                </a:solidFill>
              </a:rPr>
              <a:t>Team tier for startup workspace tool licenses (Slack, GitHub, Figma, AWS).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Predictive Churn AI: </a:t>
            </a:r>
            <a:r>
              <a:rPr sz="1300">
                <a:solidFill>
                  <a:srgbClr val="FFFFFF"/>
                </a:solidFill>
              </a:rPr>
              <a:t>Machine learning insights predicting which services user will abandon next.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8B5CF6"/>
                </a:solidFill>
              </a:rPr>
              <a:t>• Virtual Card Integration: </a:t>
            </a:r>
            <a:r>
              <a:rPr sz="1300">
                <a:solidFill>
                  <a:srgbClr val="FFFFFF"/>
                </a:solidFill>
              </a:rPr>
              <a:t>Single-use virtual cards that automatically self-destruct after free trial expiry.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VAULTY — BCA MINOR PROJECT (BCA-508)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Project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Summary of Achievements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Full Curriculum Alignment: </a:t>
            </a:r>
            <a:r>
              <a:rPr sz="1300">
                <a:solidFill>
                  <a:srgbClr val="FFFFFF"/>
                </a:solidFill>
              </a:rPr>
              <a:t>100% compliant with CCS University BCA-508 syllabus guidelines.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Production-Ready Implementation: </a:t>
            </a:r>
            <a:r>
              <a:rPr sz="1300">
                <a:solidFill>
                  <a:srgbClr val="FFFFFF"/>
                </a:solidFill>
              </a:rPr>
              <a:t>All 13 routes compile cleanly; dual-persistence architecture verified.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Validated Math Algorithms: </a:t>
            </a:r>
            <a:r>
              <a:rPr sz="1300">
                <a:solidFill>
                  <a:srgbClr val="FFFFFF"/>
                </a:solidFill>
              </a:rPr>
              <a:t>7/7 Vitest unit tests pass across normalization, zombie, and bleed formulas.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</a:rPr>
              <a:t>• Official Report Deliverables: </a:t>
            </a:r>
            <a:r>
              <a:rPr sz="1300">
                <a:solidFill>
                  <a:srgbClr val="FFFFFF"/>
                </a:solidFill>
              </a:rPr>
              <a:t>Complete 33-page report with 152 clickable interactive links.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Presentation Readiness Checklist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1. Master Project Report PDF: </a:t>
            </a:r>
            <a:r>
              <a:rPr sz="1300">
                <a:solidFill>
                  <a:srgbClr val="FFFFFF"/>
                </a:solidFill>
              </a:rPr>
              <a:t>VAULTY_Minor_Project_Report.pdf (33 Pages with clickable links).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2. Master Word Document (.docx): </a:t>
            </a:r>
            <a:r>
              <a:rPr sz="1300">
                <a:solidFill>
                  <a:srgbClr val="FFFFFF"/>
                </a:solidFill>
              </a:rPr>
              <a:t>college_files/VAULTY_MINOR_PROJECT_REPORT_COMPLETE.docx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3. Source Code Bundle: </a:t>
            </a:r>
            <a:r>
              <a:rPr sz="1300">
                <a:solidFill>
                  <a:srgbClr val="FFFFFF"/>
                </a:solidFill>
              </a:rPr>
              <a:t>VAULTY_Source_Code.zip ready for USB / code submission.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4. Mandatory Presentation PPT: </a:t>
            </a:r>
            <a:r>
              <a:rPr sz="1300">
                <a:solidFill>
                  <a:srgbClr val="FFFFFF"/>
                </a:solidFill>
              </a:rPr>
              <a:t>VAULTY_Minor_Project_Presentation.pptx (This Deck).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</a:rPr>
              <a:t>• 5. Live Application: </a:t>
            </a:r>
            <a:r>
              <a:rPr sz="1300">
                <a:solidFill>
                  <a:srgbClr val="FFFFFF"/>
                </a:solidFill>
              </a:rPr>
              <a:t>Live Edge: https://confidential-municipality-venice-activated.trycloudflare.com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5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Aft>
                <a:spcPts val="2400"/>
              </a:spcAft>
              <a:defRPr sz="2800" b="1">
                <a:solidFill>
                  <a:srgbClr val="8B5CF6"/>
                </a:solidFill>
              </a:defRPr>
            </a:pPr>
            <a:r>
              <a:t>Questions &amp; Demonstration</a:t>
            </a:r>
          </a:p>
          <a:p>
            <a:pPr algn="ctr">
              <a:spcAft>
                <a:spcPts val="2000"/>
              </a:spcAft>
              <a:defRPr sz="1600">
                <a:solidFill>
                  <a:srgbClr val="06B6D4"/>
                </a:solidFill>
              </a:defRPr>
            </a:pPr>
            <a:r>
              <a:t>Candidate: LAKSHYA SINGH | Roll No: 240919106122 | BCA 5th Sem</a:t>
            </a:r>
            <a:br/>
            <a:r>
              <a:t>Project Guide: Prof. Nihal Kumar | Department of IT</a:t>
            </a:r>
            <a:br/>
            <a:r>
              <a:t>Institute of Management Studies (IMS), Noida</a:t>
            </a:r>
            <a:br/>
            <a:r>
              <a:t>Affiliated to Chaudhary Charan Singh University, Meerut</a:t>
            </a:r>
          </a:p>
          <a:p>
            <a:pPr algn="ctr">
              <a:defRPr sz="1400">
                <a:solidFill>
                  <a:srgbClr val="9CA3AF"/>
                </a:solidFill>
              </a:defRPr>
            </a:pPr>
            <a:r>
              <a:t>Live Deployment: https://confidential-municipality-venice-activated.trycloudflare.com</a:t>
            </a:r>
            <a:br/>
            <a:r>
              <a:t>GitHub: https://github.com/lakshyasingh/vaulty | Email: lakshyasingh.bcr24224@imsnoida.com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